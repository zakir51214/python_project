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6" autoAdjust="0"/>
    <p:restoredTop sz="94660"/>
  </p:normalViewPr>
  <p:slideViewPr>
    <p:cSldViewPr snapToGrid="0">
      <p:cViewPr varScale="1">
        <p:scale>
          <a:sx n="76" d="100"/>
          <a:sy n="76" d="100"/>
        </p:scale>
        <p:origin x="126" y="5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DFF8813-3698-4524-BF35-689850B3D31A}" type="datetimeFigureOut">
              <a:rPr lang="en-US" smtClean="0"/>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B6CA4C-32E0-475A-B3AA-7E3690FECCCD}" type="slidenum">
              <a:rPr lang="en-US" smtClean="0"/>
              <a:t>‹#›</a:t>
            </a:fld>
            <a:endParaRPr lang="en-US"/>
          </a:p>
        </p:txBody>
      </p:sp>
    </p:spTree>
    <p:extLst>
      <p:ext uri="{BB962C8B-B14F-4D97-AF65-F5344CB8AC3E}">
        <p14:creationId xmlns:p14="http://schemas.microsoft.com/office/powerpoint/2010/main" val="40952388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FF8813-3698-4524-BF35-689850B3D31A}" type="datetimeFigureOut">
              <a:rPr lang="en-US" smtClean="0"/>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B6CA4C-32E0-475A-B3AA-7E3690FECCCD}" type="slidenum">
              <a:rPr lang="en-US" smtClean="0"/>
              <a:t>‹#›</a:t>
            </a:fld>
            <a:endParaRPr lang="en-US"/>
          </a:p>
        </p:txBody>
      </p:sp>
    </p:spTree>
    <p:extLst>
      <p:ext uri="{BB962C8B-B14F-4D97-AF65-F5344CB8AC3E}">
        <p14:creationId xmlns:p14="http://schemas.microsoft.com/office/powerpoint/2010/main" val="967043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FF8813-3698-4524-BF35-689850B3D31A}" type="datetimeFigureOut">
              <a:rPr lang="en-US" smtClean="0"/>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B6CA4C-32E0-475A-B3AA-7E3690FECCCD}" type="slidenum">
              <a:rPr lang="en-US" smtClean="0"/>
              <a:t>‹#›</a:t>
            </a:fld>
            <a:endParaRPr lang="en-US"/>
          </a:p>
        </p:txBody>
      </p:sp>
    </p:spTree>
    <p:extLst>
      <p:ext uri="{BB962C8B-B14F-4D97-AF65-F5344CB8AC3E}">
        <p14:creationId xmlns:p14="http://schemas.microsoft.com/office/powerpoint/2010/main" val="29507023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DFF8813-3698-4524-BF35-689850B3D31A}" type="datetimeFigureOut">
              <a:rPr lang="en-US" smtClean="0"/>
              <a:t>1/31/2026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B6CA4C-32E0-475A-B3AA-7E3690FECCCD}" type="slidenum">
              <a:rPr lang="en-US" smtClean="0"/>
              <a:t>‹#›</a:t>
            </a:fld>
            <a:endParaRPr lang="en-US"/>
          </a:p>
        </p:txBody>
      </p:sp>
    </p:spTree>
    <p:extLst>
      <p:ext uri="{BB962C8B-B14F-4D97-AF65-F5344CB8AC3E}">
        <p14:creationId xmlns:p14="http://schemas.microsoft.com/office/powerpoint/2010/main" val="29233787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DFF8813-3698-4524-BF35-689850B3D31A}" type="datetimeFigureOut">
              <a:rPr lang="en-US" smtClean="0"/>
              <a:t>1/31/2026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7B6CA4C-32E0-475A-B3AA-7E3690FECCCD}" type="slidenum">
              <a:rPr lang="en-US" smtClean="0"/>
              <a:t>‹#›</a:t>
            </a:fld>
            <a:endParaRPr lang="en-US"/>
          </a:p>
        </p:txBody>
      </p:sp>
    </p:spTree>
    <p:extLst>
      <p:ext uri="{BB962C8B-B14F-4D97-AF65-F5344CB8AC3E}">
        <p14:creationId xmlns:p14="http://schemas.microsoft.com/office/powerpoint/2010/main" val="3185612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DFF8813-3698-4524-BF35-689850B3D31A}" type="datetimeFigureOut">
              <a:rPr lang="en-US" smtClean="0"/>
              <a:t>1/31/2026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7B6CA4C-32E0-475A-B3AA-7E3690FECCCD}" type="slidenum">
              <a:rPr lang="en-US" smtClean="0"/>
              <a:t>‹#›</a:t>
            </a:fld>
            <a:endParaRPr lang="en-US"/>
          </a:p>
        </p:txBody>
      </p:sp>
    </p:spTree>
    <p:extLst>
      <p:ext uri="{BB962C8B-B14F-4D97-AF65-F5344CB8AC3E}">
        <p14:creationId xmlns:p14="http://schemas.microsoft.com/office/powerpoint/2010/main" val="940242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FF8813-3698-4524-BF35-689850B3D31A}" type="datetimeFigureOut">
              <a:rPr lang="en-US" smtClean="0"/>
              <a:t>1/31/2026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7B6CA4C-32E0-475A-B3AA-7E3690FECCCD}" type="slidenum">
              <a:rPr lang="en-US" smtClean="0"/>
              <a:t>‹#›</a:t>
            </a:fld>
            <a:endParaRPr lang="en-US"/>
          </a:p>
        </p:txBody>
      </p:sp>
    </p:spTree>
    <p:extLst>
      <p:ext uri="{BB962C8B-B14F-4D97-AF65-F5344CB8AC3E}">
        <p14:creationId xmlns:p14="http://schemas.microsoft.com/office/powerpoint/2010/main" val="2585189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FF8813-3698-4524-BF35-689850B3D31A}" type="datetimeFigureOut">
              <a:rPr lang="en-US" smtClean="0"/>
              <a:t>1/31/2026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B6CA4C-32E0-475A-B3AA-7E3690FECCCD}" type="slidenum">
              <a:rPr lang="en-US" smtClean="0"/>
              <a:t>‹#›</a:t>
            </a:fld>
            <a:endParaRPr lang="en-US"/>
          </a:p>
        </p:txBody>
      </p:sp>
    </p:spTree>
    <p:extLst>
      <p:ext uri="{BB962C8B-B14F-4D97-AF65-F5344CB8AC3E}">
        <p14:creationId xmlns:p14="http://schemas.microsoft.com/office/powerpoint/2010/main" val="25719289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FF8813-3698-4524-BF35-689850B3D31A}" type="datetimeFigureOut">
              <a:rPr lang="en-US" smtClean="0"/>
              <a:t>1/31/2026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B6CA4C-32E0-475A-B3AA-7E3690FECCCD}" type="slidenum">
              <a:rPr lang="en-US" smtClean="0"/>
              <a:t>‹#›</a:t>
            </a:fld>
            <a:endParaRPr lang="en-US"/>
          </a:p>
        </p:txBody>
      </p:sp>
    </p:spTree>
    <p:extLst>
      <p:ext uri="{BB962C8B-B14F-4D97-AF65-F5344CB8AC3E}">
        <p14:creationId xmlns:p14="http://schemas.microsoft.com/office/powerpoint/2010/main" val="38495614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FF8813-3698-4524-BF35-689850B3D31A}" type="datetimeFigureOut">
              <a:rPr lang="en-US" smtClean="0"/>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B6CA4C-32E0-475A-B3AA-7E3690FECCCD}" type="slidenum">
              <a:rPr lang="en-US" smtClean="0"/>
              <a:t>‹#›</a:t>
            </a:fld>
            <a:endParaRPr lang="en-US"/>
          </a:p>
        </p:txBody>
      </p:sp>
    </p:spTree>
    <p:extLst>
      <p:ext uri="{BB962C8B-B14F-4D97-AF65-F5344CB8AC3E}">
        <p14:creationId xmlns:p14="http://schemas.microsoft.com/office/powerpoint/2010/main" val="16102878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FF8813-3698-4524-BF35-689850B3D31A}" type="datetimeFigureOut">
              <a:rPr lang="en-US" smtClean="0"/>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B6CA4C-32E0-475A-B3AA-7E3690FECCCD}"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0978199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FF8813-3698-4524-BF35-689850B3D31A}" type="datetimeFigureOut">
              <a:rPr lang="en-US" smtClean="0"/>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B6CA4C-32E0-475A-B3AA-7E3690FECCCD}" type="slidenum">
              <a:rPr lang="en-US" smtClean="0"/>
              <a:t>‹#›</a:t>
            </a:fld>
            <a:endParaRPr lang="en-US"/>
          </a:p>
        </p:txBody>
      </p:sp>
    </p:spTree>
    <p:extLst>
      <p:ext uri="{BB962C8B-B14F-4D97-AF65-F5344CB8AC3E}">
        <p14:creationId xmlns:p14="http://schemas.microsoft.com/office/powerpoint/2010/main" val="8343378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FF8813-3698-4524-BF35-689850B3D31A}" type="datetimeFigureOut">
              <a:rPr lang="en-US" smtClean="0"/>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B6CA4C-32E0-475A-B3AA-7E3690FECCCD}"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6722327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FF8813-3698-4524-BF35-689850B3D31A}" type="datetimeFigureOut">
              <a:rPr lang="en-US" smtClean="0"/>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B6CA4C-32E0-475A-B3AA-7E3690FECCCD}" type="slidenum">
              <a:rPr lang="en-US" smtClean="0"/>
              <a:t>‹#›</a:t>
            </a:fld>
            <a:endParaRPr lang="en-US"/>
          </a:p>
        </p:txBody>
      </p:sp>
    </p:spTree>
    <p:extLst>
      <p:ext uri="{BB962C8B-B14F-4D97-AF65-F5344CB8AC3E}">
        <p14:creationId xmlns:p14="http://schemas.microsoft.com/office/powerpoint/2010/main" val="8417995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FF8813-3698-4524-BF35-689850B3D31A}" type="datetimeFigureOut">
              <a:rPr lang="en-US" smtClean="0"/>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B6CA4C-32E0-475A-B3AA-7E3690FECCCD}" type="slidenum">
              <a:rPr lang="en-US" smtClean="0"/>
              <a:t>‹#›</a:t>
            </a:fld>
            <a:endParaRPr lang="en-US"/>
          </a:p>
        </p:txBody>
      </p:sp>
    </p:spTree>
    <p:extLst>
      <p:ext uri="{BB962C8B-B14F-4D97-AF65-F5344CB8AC3E}">
        <p14:creationId xmlns:p14="http://schemas.microsoft.com/office/powerpoint/2010/main" val="15966270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FF8813-3698-4524-BF35-689850B3D31A}" type="datetimeFigureOut">
              <a:rPr lang="en-US" smtClean="0"/>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B6CA4C-32E0-475A-B3AA-7E3690FECCCD}" type="slidenum">
              <a:rPr lang="en-US" smtClean="0"/>
              <a:t>‹#›</a:t>
            </a:fld>
            <a:endParaRPr lang="en-US"/>
          </a:p>
        </p:txBody>
      </p:sp>
    </p:spTree>
    <p:extLst>
      <p:ext uri="{BB962C8B-B14F-4D97-AF65-F5344CB8AC3E}">
        <p14:creationId xmlns:p14="http://schemas.microsoft.com/office/powerpoint/2010/main" val="231531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DFF8813-3698-4524-BF35-689850B3D31A}" type="datetimeFigureOut">
              <a:rPr lang="en-US" smtClean="0"/>
              <a:t>1/31/2026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7B6CA4C-32E0-475A-B3AA-7E3690FECCCD}" type="slidenum">
              <a:rPr lang="en-US" smtClean="0"/>
              <a:t>‹#›</a:t>
            </a:fld>
            <a:endParaRPr lang="en-US"/>
          </a:p>
        </p:txBody>
      </p:sp>
    </p:spTree>
    <p:extLst>
      <p:ext uri="{BB962C8B-B14F-4D97-AF65-F5344CB8AC3E}">
        <p14:creationId xmlns:p14="http://schemas.microsoft.com/office/powerpoint/2010/main" val="859888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a:extLst>
              <a:ext uri="{FF2B5EF4-FFF2-40B4-BE49-F238E27FC236}">
                <a16:creationId xmlns:a16="http://schemas.microsoft.com/office/drawing/2014/main" id="{D0671A57-BC9E-E5B3-3FBA-D91335140099}"/>
              </a:ext>
            </a:extLst>
          </p:cNvPr>
          <p:cNvSpPr>
            <a:spLocks noGrp="1"/>
          </p:cNvSpPr>
          <p:nvPr>
            <p:ph type="ctrTitle"/>
          </p:nvPr>
        </p:nvSpPr>
        <p:spPr>
          <a:xfrm>
            <a:off x="1485900" y="2646363"/>
            <a:ext cx="8077200" cy="4554537"/>
          </a:xfrm>
        </p:spPr>
        <p:txBody>
          <a:bodyPr>
            <a:normAutofit fontScale="90000"/>
          </a:bodyPr>
          <a:lstStyle/>
          <a:p>
            <a:pPr algn="ctr"/>
            <a:br>
              <a:rPr lang="en-GB" sz="3200" b="1" dirty="0"/>
            </a:br>
            <a:br>
              <a:rPr lang="en-GB" sz="3200" b="1" dirty="0"/>
            </a:br>
            <a:br>
              <a:rPr lang="en-GB" sz="3200" b="1" dirty="0"/>
            </a:br>
            <a:br>
              <a:rPr lang="en-GB" sz="3200" b="1" dirty="0"/>
            </a:br>
            <a:br>
              <a:rPr lang="en-GB" sz="3200" b="1" dirty="0"/>
            </a:br>
            <a:br>
              <a:rPr lang="en-GB" sz="3200" b="1" dirty="0"/>
            </a:br>
            <a:br>
              <a:rPr lang="en-GB" sz="3200" b="1" dirty="0"/>
            </a:br>
            <a:br>
              <a:rPr lang="en-GB" sz="3200" b="1" dirty="0"/>
            </a:br>
            <a:br>
              <a:rPr lang="en-GB" sz="3200" b="1" dirty="0">
                <a:solidFill>
                  <a:schemeClr val="tx1"/>
                </a:solidFill>
              </a:rPr>
            </a:br>
            <a:br>
              <a:rPr lang="en-GB" sz="2800" dirty="0">
                <a:solidFill>
                  <a:schemeClr val="tx1"/>
                </a:solidFill>
              </a:rPr>
            </a:br>
            <a:r>
              <a:rPr lang="en-GB" sz="2800" b="1" dirty="0">
                <a:solidFill>
                  <a:schemeClr val="tx1"/>
                </a:solidFill>
              </a:rPr>
              <a:t>“Python is a high-level, versatile programming language widely used for data analysis, automation, web development, and machine learning. Its simplicity and extensive libraries like Pandas, NumPy, and Matplotlib make it ideal for analyzing data and creating insightful visualizations.”</a:t>
            </a:r>
            <a:br>
              <a:rPr lang="en-GB" sz="2800" b="1" dirty="0">
                <a:solidFill>
                  <a:schemeClr val="tx1"/>
                </a:solidFill>
              </a:rPr>
            </a:br>
            <a:br>
              <a:rPr lang="en-GB" sz="2800" b="1" dirty="0">
                <a:solidFill>
                  <a:schemeClr val="tx1"/>
                </a:solidFill>
              </a:rPr>
            </a:br>
            <a:br>
              <a:rPr lang="en-GB" sz="2800" b="1" dirty="0"/>
            </a:br>
            <a:br>
              <a:rPr lang="en-GB" sz="2800" b="1" dirty="0"/>
            </a:br>
            <a:br>
              <a:rPr lang="en-GB" sz="2800" b="1" dirty="0"/>
            </a:br>
            <a:br>
              <a:rPr lang="en-GB" sz="2800" b="1" dirty="0"/>
            </a:br>
            <a:br>
              <a:rPr lang="en-GB" sz="2800" b="1" dirty="0"/>
            </a:br>
            <a:br>
              <a:rPr lang="en-GB" sz="2800" dirty="0"/>
            </a:br>
            <a:endParaRPr lang="en-US" sz="2800" dirty="0"/>
          </a:p>
        </p:txBody>
      </p:sp>
      <p:sp>
        <p:nvSpPr>
          <p:cNvPr id="6" name="TextBox 5">
            <a:extLst>
              <a:ext uri="{FF2B5EF4-FFF2-40B4-BE49-F238E27FC236}">
                <a16:creationId xmlns:a16="http://schemas.microsoft.com/office/drawing/2014/main" id="{D0483F5C-1F45-1A42-0C41-1BFAEE4F082A}"/>
              </a:ext>
            </a:extLst>
          </p:cNvPr>
          <p:cNvSpPr txBox="1"/>
          <p:nvPr/>
        </p:nvSpPr>
        <p:spPr>
          <a:xfrm>
            <a:off x="3810000" y="1206500"/>
            <a:ext cx="3835400" cy="523220"/>
          </a:xfrm>
          <a:prstGeom prst="rect">
            <a:avLst/>
          </a:prstGeom>
          <a:noFill/>
        </p:spPr>
        <p:txBody>
          <a:bodyPr wrap="square" rtlCol="0">
            <a:spAutoFit/>
          </a:bodyPr>
          <a:lstStyle/>
          <a:p>
            <a:r>
              <a:rPr lang="en-GB" sz="2800" b="1" dirty="0"/>
              <a:t>Python introduction</a:t>
            </a:r>
            <a:endParaRPr lang="en-US" sz="2800" b="1" dirty="0"/>
          </a:p>
        </p:txBody>
      </p:sp>
      <p:pic>
        <p:nvPicPr>
          <p:cNvPr id="8" name="Picture 7">
            <a:extLst>
              <a:ext uri="{FF2B5EF4-FFF2-40B4-BE49-F238E27FC236}">
                <a16:creationId xmlns:a16="http://schemas.microsoft.com/office/drawing/2014/main" id="{F98EF191-87F4-8E1B-1106-FE0C456064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0" y="4495800"/>
            <a:ext cx="3556000" cy="1816100"/>
          </a:xfrm>
          <a:prstGeom prst="rect">
            <a:avLst/>
          </a:prstGeom>
        </p:spPr>
      </p:pic>
    </p:spTree>
    <p:extLst>
      <p:ext uri="{BB962C8B-B14F-4D97-AF65-F5344CB8AC3E}">
        <p14:creationId xmlns:p14="http://schemas.microsoft.com/office/powerpoint/2010/main" val="19232413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F14A9-8276-DAF9-4E48-12F9B5342377}"/>
              </a:ext>
            </a:extLst>
          </p:cNvPr>
          <p:cNvSpPr>
            <a:spLocks noGrp="1"/>
          </p:cNvSpPr>
          <p:nvPr>
            <p:ph type="title"/>
          </p:nvPr>
        </p:nvSpPr>
        <p:spPr>
          <a:xfrm>
            <a:off x="0" y="0"/>
            <a:ext cx="11353800" cy="6858000"/>
          </a:xfrm>
        </p:spPr>
        <p:txBody>
          <a:bodyPr>
            <a:noAutofit/>
          </a:bodyPr>
          <a:lstStyle/>
          <a:p>
            <a:br>
              <a:rPr lang="en-GB" sz="2000" b="1" dirty="0"/>
            </a:br>
            <a:br>
              <a:rPr lang="en-GB" sz="2000" b="1" dirty="0"/>
            </a:br>
            <a:br>
              <a:rPr lang="en-GB" sz="2000" b="1" dirty="0"/>
            </a:br>
            <a:br>
              <a:rPr lang="en-GB" sz="2000" b="1" dirty="0"/>
            </a:br>
            <a:r>
              <a:rPr lang="en-GB" sz="2000" b="1" dirty="0">
                <a:solidFill>
                  <a:schemeClr val="tx1"/>
                </a:solidFill>
              </a:rPr>
              <a:t>Python project .1</a:t>
            </a:r>
            <a:br>
              <a:rPr lang="en-GB" sz="2000" b="1" dirty="0">
                <a:solidFill>
                  <a:schemeClr val="tx1"/>
                </a:solidFill>
              </a:rPr>
            </a:br>
            <a:br>
              <a:rPr lang="en-GB" sz="2000" b="1" dirty="0">
                <a:solidFill>
                  <a:schemeClr val="tx1"/>
                </a:solidFill>
              </a:rPr>
            </a:br>
            <a:r>
              <a:rPr lang="en-GB" sz="2000" b="1" dirty="0">
                <a:solidFill>
                  <a:schemeClr val="tx1"/>
                </a:solidFill>
              </a:rPr>
              <a:t>problem .1</a:t>
            </a:r>
            <a:br>
              <a:rPr lang="en-GB" sz="2000" b="1" dirty="0">
                <a:solidFill>
                  <a:schemeClr val="tx1"/>
                </a:solidFill>
              </a:rPr>
            </a:br>
            <a:br>
              <a:rPr lang="en-GB" sz="2000" b="1" dirty="0">
                <a:solidFill>
                  <a:schemeClr val="tx1"/>
                </a:solidFill>
              </a:rPr>
            </a:br>
            <a:r>
              <a:rPr lang="en-GB" sz="2000" b="1" dirty="0">
                <a:solidFill>
                  <a:schemeClr val="tx1"/>
                </a:solidFill>
              </a:rPr>
              <a:t>Sales Performance Analysis by City</a:t>
            </a:r>
            <a:br>
              <a:rPr lang="en-GB" sz="2000" b="1" dirty="0">
                <a:solidFill>
                  <a:schemeClr val="tx1"/>
                </a:solidFill>
              </a:rPr>
            </a:br>
            <a:r>
              <a:rPr lang="en-GB" sz="2000" dirty="0">
                <a:solidFill>
                  <a:schemeClr val="tx1"/>
                </a:solidFill>
              </a:rPr>
              <a:t>This code calculates the total sales for each city and displays them in descending order.</a:t>
            </a:r>
            <a:br>
              <a:rPr lang="en-GB" sz="2000" b="1" dirty="0">
                <a:solidFill>
                  <a:schemeClr val="tx1"/>
                </a:solidFill>
              </a:rPr>
            </a:br>
            <a:br>
              <a:rPr lang="en-GB" sz="2000" b="1" dirty="0">
                <a:solidFill>
                  <a:schemeClr val="tx1"/>
                </a:solidFill>
              </a:rPr>
            </a:br>
            <a:br>
              <a:rPr lang="en-GB" sz="2000" b="1" dirty="0">
                <a:solidFill>
                  <a:schemeClr val="tx1"/>
                </a:solidFill>
              </a:rPr>
            </a:br>
            <a:r>
              <a:rPr lang="en-GB" sz="2000" b="1" dirty="0">
                <a:solidFill>
                  <a:schemeClr val="tx1"/>
                </a:solidFill>
              </a:rPr>
              <a:t>Problem .2</a:t>
            </a:r>
            <a:br>
              <a:rPr lang="en-GB" sz="2000" b="1" dirty="0">
                <a:solidFill>
                  <a:schemeClr val="tx1"/>
                </a:solidFill>
              </a:rPr>
            </a:br>
            <a:br>
              <a:rPr lang="en-GB" sz="2000" b="1" dirty="0">
                <a:solidFill>
                  <a:schemeClr val="tx1"/>
                </a:solidFill>
              </a:rPr>
            </a:br>
            <a:r>
              <a:rPr lang="en-GB" sz="2000" b="1" dirty="0">
                <a:solidFill>
                  <a:schemeClr val="tx1"/>
                </a:solidFill>
              </a:rPr>
              <a:t>Profit Performance by Product Category</a:t>
            </a:r>
            <a:br>
              <a:rPr lang="en-GB" sz="2000" b="1" dirty="0">
                <a:solidFill>
                  <a:schemeClr val="tx1"/>
                </a:solidFill>
              </a:rPr>
            </a:br>
            <a:r>
              <a:rPr lang="en-GB" sz="2000" dirty="0">
                <a:solidFill>
                  <a:schemeClr val="tx1"/>
                </a:solidFill>
              </a:rPr>
              <a:t>This code calculates the total profit for each category and displays them from highest to lowest.</a:t>
            </a:r>
            <a:br>
              <a:rPr lang="en-GB" sz="2000" b="1" dirty="0">
                <a:solidFill>
                  <a:schemeClr val="tx1"/>
                </a:solidFill>
              </a:rPr>
            </a:br>
            <a:br>
              <a:rPr lang="en-GB" sz="2000" b="1" dirty="0">
                <a:solidFill>
                  <a:schemeClr val="tx1"/>
                </a:solidFill>
              </a:rPr>
            </a:br>
            <a:br>
              <a:rPr lang="en-GB" sz="2000" b="1" dirty="0"/>
            </a:br>
            <a:br>
              <a:rPr lang="en-GB" sz="2800" dirty="0"/>
            </a:br>
            <a:br>
              <a:rPr lang="en-GB" sz="2800" dirty="0"/>
            </a:br>
            <a:br>
              <a:rPr lang="en-GB" sz="2800" dirty="0"/>
            </a:br>
            <a:br>
              <a:rPr lang="en-GB" sz="2800" dirty="0"/>
            </a:br>
            <a:br>
              <a:rPr lang="en-GB" sz="2800" dirty="0"/>
            </a:br>
            <a:br>
              <a:rPr lang="en-GB" sz="2800" dirty="0"/>
            </a:br>
            <a:br>
              <a:rPr lang="en-GB" sz="2800" dirty="0"/>
            </a:br>
            <a:br>
              <a:rPr lang="en-GB" sz="2800" dirty="0"/>
            </a:br>
            <a:endParaRPr lang="en-US" sz="2800" dirty="0"/>
          </a:p>
        </p:txBody>
      </p:sp>
    </p:spTree>
    <p:extLst>
      <p:ext uri="{BB962C8B-B14F-4D97-AF65-F5344CB8AC3E}">
        <p14:creationId xmlns:p14="http://schemas.microsoft.com/office/powerpoint/2010/main" val="2071848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4F8ED-38E8-C17F-8086-8CDBE5042760}"/>
              </a:ext>
            </a:extLst>
          </p:cNvPr>
          <p:cNvSpPr>
            <a:spLocks noGrp="1"/>
          </p:cNvSpPr>
          <p:nvPr>
            <p:ph type="title"/>
          </p:nvPr>
        </p:nvSpPr>
        <p:spPr>
          <a:xfrm>
            <a:off x="0" y="0"/>
            <a:ext cx="12192000" cy="815975"/>
          </a:xfrm>
        </p:spPr>
        <p:txBody>
          <a:bodyPr>
            <a:normAutofit fontScale="90000"/>
          </a:bodyPr>
          <a:lstStyle/>
          <a:p>
            <a:r>
              <a:rPr lang="en-GB" sz="2200" b="1" dirty="0">
                <a:solidFill>
                  <a:schemeClr val="tx1"/>
                </a:solidFill>
              </a:rPr>
              <a:t>Sales Performance Analysis by City</a:t>
            </a:r>
            <a:br>
              <a:rPr lang="en-GB" sz="1800" b="1" dirty="0">
                <a:solidFill>
                  <a:schemeClr val="tx1"/>
                </a:solidFill>
              </a:rPr>
            </a:br>
            <a:r>
              <a:rPr lang="en-GB" sz="2000" dirty="0">
                <a:solidFill>
                  <a:schemeClr val="tx1"/>
                </a:solidFill>
              </a:rPr>
              <a:t>This code calculates the total sales for each city and displays them in descending order</a:t>
            </a:r>
            <a:r>
              <a:rPr lang="en-GB" sz="1600" dirty="0"/>
              <a:t>.</a:t>
            </a:r>
            <a:br>
              <a:rPr lang="en-GB" sz="1400" b="1" dirty="0"/>
            </a:br>
            <a:endParaRPr lang="en-US" sz="1400" dirty="0"/>
          </a:p>
        </p:txBody>
      </p:sp>
      <p:pic>
        <p:nvPicPr>
          <p:cNvPr id="5" name="Content Placeholder 4">
            <a:extLst>
              <a:ext uri="{FF2B5EF4-FFF2-40B4-BE49-F238E27FC236}">
                <a16:creationId xmlns:a16="http://schemas.microsoft.com/office/drawing/2014/main" id="{8DD1A369-B659-DD94-C506-0E60FD3C5F6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940552"/>
            <a:ext cx="5778500" cy="964448"/>
          </a:xfrm>
        </p:spPr>
      </p:pic>
      <p:pic>
        <p:nvPicPr>
          <p:cNvPr id="7" name="Picture 6">
            <a:extLst>
              <a:ext uri="{FF2B5EF4-FFF2-40B4-BE49-F238E27FC236}">
                <a16:creationId xmlns:a16="http://schemas.microsoft.com/office/drawing/2014/main" id="{E2024664-5109-0F82-10E1-C1BB6401EC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48493" y="940552"/>
            <a:ext cx="3559307" cy="1916948"/>
          </a:xfrm>
          <a:prstGeom prst="rect">
            <a:avLst/>
          </a:prstGeom>
        </p:spPr>
      </p:pic>
      <p:sp>
        <p:nvSpPr>
          <p:cNvPr id="8" name="Title 1">
            <a:extLst>
              <a:ext uri="{FF2B5EF4-FFF2-40B4-BE49-F238E27FC236}">
                <a16:creationId xmlns:a16="http://schemas.microsoft.com/office/drawing/2014/main" id="{DDD0648F-18CF-88E2-8A20-B1AC85B470FA}"/>
              </a:ext>
            </a:extLst>
          </p:cNvPr>
          <p:cNvSpPr txBox="1">
            <a:spLocks/>
          </p:cNvSpPr>
          <p:nvPr/>
        </p:nvSpPr>
        <p:spPr>
          <a:xfrm>
            <a:off x="0" y="2997200"/>
            <a:ext cx="12192000" cy="81597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2100" b="1" dirty="0"/>
              <a:t>Profit Performance by Product Categor</a:t>
            </a:r>
            <a:r>
              <a:rPr lang="en-GB" sz="1600" b="1" dirty="0"/>
              <a:t>y</a:t>
            </a:r>
            <a:endParaRPr lang="en-GB" sz="1800" b="1" dirty="0"/>
          </a:p>
          <a:p>
            <a:r>
              <a:rPr lang="en-GB" sz="1800" dirty="0"/>
              <a:t>“This code calculates the total profit for each category and displays them from highest to lowest</a:t>
            </a:r>
            <a:r>
              <a:rPr lang="en-GB" sz="2500" b="1" dirty="0"/>
              <a:t>.</a:t>
            </a:r>
            <a:endParaRPr lang="en-US" sz="1800" dirty="0"/>
          </a:p>
        </p:txBody>
      </p:sp>
      <p:pic>
        <p:nvPicPr>
          <p:cNvPr id="12" name="Picture 11">
            <a:extLst>
              <a:ext uri="{FF2B5EF4-FFF2-40B4-BE49-F238E27FC236}">
                <a16:creationId xmlns:a16="http://schemas.microsoft.com/office/drawing/2014/main" id="{FCFCDEC2-8296-D4D8-2C88-D120889163D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3940084"/>
            <a:ext cx="8048493" cy="771615"/>
          </a:xfrm>
          <a:prstGeom prst="rect">
            <a:avLst/>
          </a:prstGeom>
        </p:spPr>
      </p:pic>
      <p:pic>
        <p:nvPicPr>
          <p:cNvPr id="14" name="Picture 13">
            <a:extLst>
              <a:ext uri="{FF2B5EF4-FFF2-40B4-BE49-F238E27FC236}">
                <a16:creationId xmlns:a16="http://schemas.microsoft.com/office/drawing/2014/main" id="{2B4B9919-EF09-90EC-4A92-200ACC36254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18500" y="4605276"/>
            <a:ext cx="3289300" cy="2113023"/>
          </a:xfrm>
          <a:prstGeom prst="rect">
            <a:avLst/>
          </a:prstGeom>
        </p:spPr>
      </p:pic>
    </p:spTree>
    <p:extLst>
      <p:ext uri="{BB962C8B-B14F-4D97-AF65-F5344CB8AC3E}">
        <p14:creationId xmlns:p14="http://schemas.microsoft.com/office/powerpoint/2010/main" val="1255886799"/>
      </p:ext>
    </p:extLst>
  </p:cSld>
  <p:clrMapOvr>
    <a:masterClrMapping/>
  </p:clrMapOvr>
</p:sld>
</file>

<file path=ppt/theme/theme1.xml><?xml version="1.0" encoding="utf-8"?>
<a:theme xmlns:a="http://schemas.openxmlformats.org/drawingml/2006/main" name="Facet">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33</TotalTime>
  <Words>192</Words>
  <Application>Microsoft Office PowerPoint</Application>
  <PresentationFormat>Widescreen</PresentationFormat>
  <Paragraphs>6</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Trebuchet MS</vt:lpstr>
      <vt:lpstr>Wingdings 3</vt:lpstr>
      <vt:lpstr>Facet</vt:lpstr>
      <vt:lpstr>          “Python is a high-level, versatile programming language widely used for data analysis, automation, web development, and machine learning. Its simplicity and extensive libraries like Pandas, NumPy, and Matplotlib make it ideal for analyzing data and creating insightful visualizations.”        </vt:lpstr>
      <vt:lpstr>    Python project .1  problem .1  Sales Performance Analysis by City This code calculates the total sales for each city and displays them in descending order.   Problem .2  Profit Performance by Product Category This code calculates the total profit for each category and displays them from highest to lowest.           </vt:lpstr>
      <vt:lpstr>Sales Performance Analysis by City This code calculates the total sales for each city and displays them in descending order.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pc-1</dc:creator>
  <cp:lastModifiedBy>pc-1</cp:lastModifiedBy>
  <cp:revision>1</cp:revision>
  <dcterms:created xsi:type="dcterms:W3CDTF">2026-01-31T07:13:28Z</dcterms:created>
  <dcterms:modified xsi:type="dcterms:W3CDTF">2026-01-31T07:47:07Z</dcterms:modified>
</cp:coreProperties>
</file>